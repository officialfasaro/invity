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1097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A580C"/>
                </a:solidFill>
                <a:latin typeface="Segoe UI"/>
              </a:defRPr>
            </a:pPr>
            <a:r>
              <a:t>DATABASE ARCHITECTURE &amp; RELATIONAL SCHEMA</a:t>
            </a:r>
          </a:p>
          <a:p>
            <a:pPr>
              <a:spcAft>
                <a:spcPts val="10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Dokumentasi Lengkap Database &amp; Penggunaan Seluruh Tabel</a:t>
            </a:r>
          </a:p>
          <a:p>
            <a:pPr>
              <a:spcAft>
                <a:spcPts val="26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Platform Undangan Pernikahan Digital SaaS — Fasaro Invity</a:t>
            </a:r>
            <a:br/>
            <a:r>
              <a:t>PostgreSQL Relational Engine • Prisma ORM • Strict Type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93192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97316"/>
                </a:solidFill>
                <a:latin typeface="Segoe UI"/>
              </a:defRPr>
            </a:pPr>
            <a:r>
              <a:t>11 TABEL UTAMA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Struktur Domain Lengkap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393192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4 ENUM TIPE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Integritas Data Strict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POSTGRESQL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Database Relasional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393192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PRISMA ORM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Type-safe Schema &amp;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Ringkasan Arsitektur &amp; Gambaran Umum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Arsitektur Inti (Core Engine)</a:t>
            </a:r>
          </a:p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PostgreSQL &amp; Prisma ORM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Menggunakan PostgreSQL sebagai RDBMS utama dengan integritas referensial ketat (Foreign Keys).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Prisma ORM menyediakan migrasi otomatis, relasi deklaratif, dan auto-generated TypeScript Client.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Semua primary key menggunakan standar CUID (Collision-resistant Unique Identifier) yang aman dan scalable.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Skema dirancang multi-tenant: satu akun pengguna dapat memiliki satu atau lebih proyek undangan pernikahan.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Klasterisasi Domain Tabel</a:t>
            </a:r>
          </a:p>
          <a:p>
            <a:pPr>
              <a:spcAft>
                <a:spcPts val="1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11 Tabel Terbagi dalam 4 Modul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Modul Pengguna &amp; Akun: users (autentikasi, perizinan role admin/user).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Modul Undangan Inti: invitations (pusat relasi proyek undangan, JSON coupleInfo).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Modul Fitur Undangan: event_schedules, galleries, bank_accounts, guests, rsvps, wishes.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Modul Bisnis &amp; Sistem: payment_transactions (monetisasi), theme_catalogs (katalog desain), system_settings (global config).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914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Kebijakan Integritas &amp; Keamanan</a:t>
            </a:r>
          </a:p>
          <a:p>
            <a:pPr>
              <a:spcAft>
                <a:spcPts val="1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Referential Integrity &amp; Protection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Cascade Delete: Penghapusan undangan secara otomatis membersihkan semua data fitur terkait.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SetNull Preservation: Penghapusan undangan tidak menghapus transaksi pembayaran (keperluan audit akuntansi).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Composite Unique Constraint: guests(invitationId, slugCode) mencegah duplikasi kode tautan tamu.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Enums Standar: UserRole, SubscriptionTier, PaymentType, PaymentStatus.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914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RELATIONAL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Entity Relationship Diagram (ERD) Fasaro Invity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pic>
        <p:nvPicPr>
          <p:cNvPr id="9" name="Picture 8" descr="ERD_Diagram_Fasaro_In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772400" cy="5029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280160"/>
            <a:ext cx="2743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Navigasi Relasi ERD</a:t>
            </a:r>
          </a:p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  <a:latin typeface="Segoe UI"/>
              </a:defRPr>
            </a:pPr>
            <a:r>
              <a:t>• Induk Entitas (users)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Menyimpan data pengguna terautentikasi dan memiliki relasi 1:N ke invitations dan payment_transactions.</a:t>
            </a:r>
          </a:p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  <a:latin typeface="Segoe UI"/>
              </a:defRPr>
            </a:pPr>
            <a:r>
              <a:t>• Entitas Inti (invitations)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Pusat dari seluruh fitur wedding. Memiliki relasi 1:N (Cascade Delete) ke 6 tabel fitur anak.</a:t>
            </a:r>
          </a:p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  <a:latin typeface="Segoe UI"/>
              </a:defRPr>
            </a:pPr>
            <a:r>
              <a:t>• Tabel Fitur Anak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event_schedules, galleries, bank_accounts, guests, rsvps, wishes terikat langsung ke invitationId.</a:t>
            </a:r>
          </a:p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  <a:latin typeface="Segoe UI"/>
              </a:defRPr>
            </a:pPr>
            <a:r>
              <a:t>• Integritas Transaksi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payment_transactions menggunakan onDelete: SetNull agar data mutasi uang tetap aman jika undangan dihapus.</a:t>
            </a:r>
          </a:p>
          <a:p>
            <a:pPr>
              <a:spcAft>
                <a:spcPts val="200"/>
              </a:spcAft>
              <a:defRPr sz="1000" b="1">
                <a:solidFill>
                  <a:srgbClr val="EA580C"/>
                </a:solidFill>
                <a:latin typeface="Segoe UI"/>
              </a:defRPr>
            </a:pPr>
            <a:r>
              <a:t>• Katalog &amp; Global Config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theme_catalogs dan system_settings bertindak sebagai tabel konfigurasi dinamis.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users — Pengelolaan Akun &amp; Otorisasi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`users`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Menyimpan identitas akun pengguna (calon pengantin dan admin sistem). Mengatur autentikasi JWT, password hashing, dan peran hak akses.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akun pengguna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Alamat email unik untuk 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passwordHash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Hash password aman via 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lengkap pengguna / mempelai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UserRole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'USER'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Hak akses sistem: USER atau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registrasi akun dibuat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updatedAt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perubahan profil terakhir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EA580C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1 : N ke invitations: Satu user dapat membuat beberapa proyek undangan pernikahan.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1 : N ke payment_transactions: Satu user mencatat riwayat transaksi pembelian tier langganan.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 Cascade: Jika user dihapus oleh super admin, seluruh data undangan miliknya ikut dibersihkan.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Autentikasi menggunakan JSON Web Token (JWT) yang divalidasi pada setiap request API terproteksi.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Role ADMIN memiliki hak akses khusus ke Master Admin Panel (/admin) untuk verifikasi pembayaran manual.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Email wajib divalidasi formatnya pada pintu masuk (Zod schema) sebelum query Prisma dieksekusi.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INVITATIONS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invitations — Entitas Inti Undangan Pernikahan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`invitations`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Jantung utama platform Fasaro Invity. Mewakili sebuah proyek undangan pernikahan digital unik yang dapat diakses publik via URL slug khusus.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proyek undangan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slug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URL publik unik (/invitation/:slug)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users.id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pemilik undangan (relasi ke users)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Judul undangan (The Wedding of ...)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themeId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REF -&gt; themeKey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Kunci tema visual yang dipilih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activeUntil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Tanggal batas akhir masa tayang undangan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Status aktif/nonaktif akses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coupleInfo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JSON 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Data mempelai pria &amp; wanita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undangan pertama kali dibuat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F97316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users: Terikat ke akun pemilik undangan.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1 : N ke 6 Tabel Anak (Cascade Delete): event_schedules, galleries, bank_accounts, guests, rsvps, wishes.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1 : N ke payment_transactions (SetNull): Transaksi tetap disimpan jika undangan dihapus.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Logical Reference ke theme_catalogs: Menghubungkan themeId ke themeKey katalog.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coupleInfo disimpan dalam format JSON fleksibel (nama lengkap, panggilan, ayah, ibu, foto profil mempelai).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Masa aktif (activeUntil) ditentukan otomatis saat transaksi pembayaran paket sukses terverifikasi.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Slug URL unik diindeks secara cepat untuk menjamin performa SSR dan pemuatan halaman publik yang instan.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EVENT_SCHEDULES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event_schedules — Agenda Acara &amp; Navigasi Lokasi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`event_schedules`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Mengelola rangkaian acara pernikahan (Akad, Pemberkatan, Resepsi Siang/Malam, Ngunduh Mantu). Dilengkapi integrasi titik koordinat GPS Google Maps.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agenda acara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acara (contoh: Akad Nikah, Resepsi)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Tanggal pelaksanaan acara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startTime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mulai acara (contoh: '08:00 WIB')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endTime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selesai (contoh: '11:00 WIB' / Selesai)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venueName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gedung, hotel, masjid, atau kediaman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Alamat lengkap lokasi pelaksanaan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mapsUrl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Tautan langsung Google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latitude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Float?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Koordinat GPS Lintang (Google Maps SDK)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longitude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Float?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Koordinat GPS Bujur (Google Maps SDK)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Setiap jadwal terikat pada satu undangan pernikahan spesifik.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Menghapus undangan otomatis menghapus seluruh jadwal acara terkait.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Mendukung multi-acara dalam 1 undangan (misal: Akad tanggal 10 di Masjid, Resepsi tanggal 12 di Gedung).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Field mapsUrl, latitude, dan longitude digunakan oleh tombol 'Buka Peta' dan fitur Add to Google Calendar.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Format waktu fleksibel dalam bentuk teks string agar mendukung zona waktu WIB/WITA/WIT/kustom.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GALLERIES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galleries — Album Foto Pre-wedding &amp; Dokumentasi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`galleries`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Menyimpan koleksi dokumentasi foto pre-wedding, momen spesial, dan visual album pengantin dengan pengaturan urutan kustom.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rekaman foto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imageUrl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URL file foto (CDN atau penyimpanan lokal)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Kutipan atau keterangan foto singkat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sortOrder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Urutan penayangan pada carousel/grid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Seluruh foto terhubung ke satu undangan pernikahan.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Pembersihan undangan otomatis menghapus data relasi foto.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sortOrder memungkinkan calon pengantin mengatur urutan foto secara drag-and-drop di halaman editor.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Tampilan frontend merender galeri dalam format masonry grid elegan atau slider swipe interaktif.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URL gambar mendukung integrasi penyimpanan lokal (/uploads) maupun cloud CDN (Cloudinary / AWS S3).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BANK_ACCOUNTS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bank_accounts — Kado Digital &amp; Amplop Cashless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`bank_accounts`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Memfasilitasi amplop digital (kado pernikahan online) bagi tamu yang ingin mengirimkan ucapan tanda kasih secara cashless via transfer bank atau QRIS.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rekening kado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bankName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bank / e-wallet (BCA, Mandiri, GoPay)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accountNumber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Nomor rekening atau nomor telepon e-wallet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accountHolder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pemilik rekening sesuai buku tabungan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qrisImageUrl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Gambar barcode QRIS statis pengantin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Setiap rekening/e-wallet terdaftar atas satu undangan tertentu.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Menghapus undangan otomatis menghapus data nomor rekening pengantin.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Mendukung multi-rekening (contoh: Rekening Pria di BCA, Rekening Wanita di Mandiri, plus QRIS bersama).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Frontend menyediakan tombol interaktif 'Salin Nomor Rekening' untuk kenyamanan tamu saat bertransaksi.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Field qrisImageUrl memungkinkan tamu melakukan scan langsung dari aplikasi mobile banking apa pun.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GUESTS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guests — Buku Tamu, Personalisasi &amp; QR Check-in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`guests`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Mengelola database tamu undangan. Menyediakan link undangan personal (?to=Nama+Tamu), blast WhatsApp, alokasi kuota kursi, dan sistem QR Check-in hari 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tamu undangan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lengkap tamu / keluarga yang diundang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slugCode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Kode URL unik tamu (misal: 'bapak-joko')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Jumlah jatah kursi/porsi tamu undangan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phoneNumber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Nomor WhatsApp untuk pengiriman tautan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checkedInAt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scan QR check-in saat hadir di lokasi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Terikat pada satu undangan pernikahan tertentu.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Unique Constraint: @@unique([invitationId, slugCode]) mencegah duplikasi tautan tamu dalam satu undangan.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Menghapus undangan otomatis menghapus seluruh daftar tamu.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slugCode memungkinkan pembagian tautan eksklusif: domain.com/fahmi-siti?to=bapak-joko.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Fitur Buku Tamu Digital di resepsi: Penerima tamu memindai QR Code tamu untuk mengisi checkedInAt.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Field quota membantu wedding organizer membatasi jumlah pendamping tamu yang hadir.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RSVPS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rsvps — Konfirmasi Kehadiran 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`rsvps`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Mencatat formulir konfirmasi kehadiran (RSVP) dari para tamu undangan secara real-time. Membantu estimasi katering makanan dan kapasitas gedung.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formulir RSVP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guestName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tamu yang mengonfirmasi kehadiran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Status kehadiran ('Hadir', 'Tidak Hadir', 'Ragu')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attendeeCount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Jumlah orang yang akan hadir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sessionChosen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Pilihan sesi acara (jika resepsi bergelombang)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pengisian formulir konfirmasi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Seluruh data RSVP terhubung ke satu undangan pernikahan.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Otomatis dibersihkan saat undangan dihapus.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Hasil konfirmasi langsung diagregasikan di Dashboard Pengantin (Total Hadir, Tidak Hadir, Total Porsi).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sessionChosen berguna untuk pernikahan protokol kesehatan atau gedung dengan pembagian sesi waktu.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Status kehadiran terstandarisasi untuk memudahkan filter dan ekspor laporan ke format Excel/CSV.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WISHES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wishes — Buku Ucapan &amp; Doa Restu Virtual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`wishes`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Menampung doa restu, harapan baik, dan ucapan selamat dari para tamu undangan secara virtual. Dilengkapi fitur moderasi komentar spam.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doa/ucapan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induk (Cascade 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senderName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pengirim ucapan selamat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TEXT 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Isi teks doa dan ucapan selamat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Emoji reaksi yang dipilih (contoh: ❤️, 💍, 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isHidden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Status moderasi pesan (sembunyikan pesan)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pengiriman ucapan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DB2777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Ucapan terikat pada satu undangan pernikahan tertentu.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OnDelete: Cascade: Pembersihan otomatis saat proyek undangan dihapus.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Fitur Moderasi: Pengantin dapat menyembunyikan komentar yang tidak pantas dengan mengubah isHidden menjadi true.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Tampilan komentar real-time mendukung avatar, timestamp human-readable, dan animasi reaksi emoji.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Input teks wajib disanitasi dari tag berbahaya (anti-XSS) sebelum disimpan ke dalam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PAYMENT_TRANSACTIONS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payment_transactions — Monetisasi &amp; Pembayaran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`payment_transactions`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Mencatat seluruh transaksi finansial platform SaaS. Mendukung aktivasi tier otomatis via payment gateway maupun verifikasi manual transfer admin.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internal transaksi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orderId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Nomor invoice pesanan (contoh: INV-2026-001)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-&gt; users.id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pembeli/pelanggan paket langganan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invitationId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FK (SetNull)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undangan yang di-upgrade (Opsional)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SubscriptionTier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Paket: FREE / STARTER / ELEGANT / ULTIMATE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Decimal(12,2)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Nominal transaksi dalam Rupiah (IDR)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paymentType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PaymentType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Metode: GATEWAY / MANUAL_QRIS / MANUAL_BANK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paymentStatus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PaymentStatus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 'PENDING'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PENDING / WAITING_VERIFICATION / SETTLEMENT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proofImageUrl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Bukti transfer jika metode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verifiedBy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Admin ID yang menyetujui transfer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verifiedAt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persetujuan verifikasi pembayaran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pembuatan pesanan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users: Terhubung langsung ke akun pengguna pembeli (Cascade Delete).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N : 1 ke invitations: Relasi opsional dengan onDelete: SetNull (menjaga riwayat keuangan jika undangan dihapus).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Automated Webhook: Gateway (Midtrans/Xendit) mengirim notifikasi status SETTLEMENT untuk aktivasi instan.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Manual Verification: Pembayaran via transfer manual mengubah status ke WAITING_VERIFICATION untuk ditinjau admin.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Audit Trail Finansial: Nominal disimpan dalam tipe data presisi tinggi Decimal(12, 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THEME_CATALOGS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theme_catalogs — Katalog &amp; Template Tema Dinamis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`theme_catalogs`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Direktori katalog desain tema undangan. Mengatur tema yang tersedia, kategori gaya, status aktif, dan batasan tema premium bagi pelanggan berbayar.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rekaman katalog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themeKey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Kode slug tema frontend ('editorial', 'rustic')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Nama komersial template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 'Minimalist'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Kategori tema (Minimalist, Floral, Luxury, Java)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thumbnail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URL gambar pratinjau kartu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previewUrl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Tautan demo langsung tema secara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Status ketersediaan tema untuk dipilih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isPremium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Menandai apakah tema memerlukan paket berbayar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template pertama kali ditambahkan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updatedAt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perubahan template terakhir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Logical Reference ke invitations: Kolom themeId pada tabel invitations merujuk pada themeKey tabel ini.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Tabel independen yang dapat diperbarui kapan saja oleh Super Admin tanpa merusak data undangan yang sudah ada.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Frontend memuat dynamic theme component secara dinamis berdasarkan themeKey.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isPremium digunakan oleh sistem billing untuk memvalidasi apakah user berhak menggunakan tema tersebut.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isActive memungkinkan admin menonaktifkan tema tertentu saat sedang dalam tahap maintenance/pembaruan desain.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TABLE SPECIFICATION: SYSTEM_SETTINGS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Tabel system_settings — Konfigurasi Global &amp; Parameter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7132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Tabel `system_settings`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Penyimpanan parameter konfigurasi global aplikasi berbasis Key-Value store. Memungkinkan perubahan setelan operasional tanpa deploy ulang kode.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94560"/>
          <a:ext cx="67665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 / Fungsi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 (cuid)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ID unik konfigurasi setting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Kata kunci konfigurasi unik sistem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TEXT /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Nilai konfigurasi (string atau stringified 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String?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Penjelasan fungsi konfigurasi bagi developer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updatedAt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Waktu konfigurasi terakhir diubah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75569"/>
                </a:solidFill>
                <a:latin typeface="Segoe UI"/>
              </a:defRPr>
            </a:pPr>
            <a:r>
              <a:t>Relasi &amp; Integritas Data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Tabel mandiri (Standalone Utility Table). Tidak memiliki foreign key ke tabel lain.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• Diakses secara terpusat oleh Backend Service untuk mengambil konfigurasi operasional runtime.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Aturan Bisnis &amp; Penggunaan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Contoh Penggunaan Kunci Konfigurasi: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  • 'app_name': 'Fasaro Invity Wedding SaaS'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  • 'payment_manual_accounts': JSON berisi daftar nomor rekening resmi platform untuk menerima pembayaran manual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  • 'whatsapp_cs_number': Nomor WhatsApp Customer Service untuk tombol bantuan di footer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✔   • 'tier_pricing': JSON konfigurasi harga paket langganan dan durasi aktif masing-masing tier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RELATIONAL MATRIX &amp;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Matriks Relasi &amp; Integritas Referensial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914400"/>
                <a:gridCol w="1188720"/>
                <a:gridCol w="3840480"/>
              </a:tblGrid>
              <a:tr h="43226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Tabel Parent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Tabel Child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Foreign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Kardinalitas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Aksi OnDelete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Dampak &amp; Kebijakan Bisnis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userId -&gt;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akun user otomatis menghapus seluruh undangannya.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payment_transactions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userId -&gt;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user membersihkan histori transaksi miliknya.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payment_transactions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SET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TIDAK menghapus invoice pembayaran.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event_schedules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jadwal acara.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galleries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foto galeri.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bank_accounts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rekening kado.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guests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daftar tamu.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rsvps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data RSVP.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wishes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invitationId -&gt;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Hapus undangan membersihkan seluruh ucapan doa.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theme_catalogs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invitations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themeId ~ themeKey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366F1"/>
                          </a:solidFill>
                          <a:latin typeface="Segoe UI"/>
                        </a:defRPr>
                      </a:pPr>
                      <a:r>
                        <a:t>LOGICAL REF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Invitations menyimpan themeKey yang aktif di frontend.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BEST PRACTICES &amp; DOWNLOAD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Praktik Terbaik Arsitektur &amp; Panduan Unduhan 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"/>
            <a:ext cx="164592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Fasaro Invity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Fasaro Invity Wedding SaaS • PostgreSQL Schema &amp; Prisma Relational Mapping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Keamanan &amp; Performa Query</a:t>
            </a:r>
          </a:p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Database Best Practices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Indexing Strategis: Kolom email, slug, orderId, dan foreign key diindeks untuk kecepatan lookup O(log N).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Anti-Injection: Seluruh query dieksekusi melalui Prisma Client dengan prepared statements otomatis.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Sanitasi Konten: Data teks pada wishes dan coupleInfo JSON disanitasi dari script XSS berbahaya.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Enkripsi Password: Password disimpan dalam hash Bcrypt dengan salt rounds standar industri.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File Aset yang Dihasilkan</a:t>
            </a:r>
          </a:p>
          <a:p>
            <a:pPr>
              <a:spcAft>
                <a:spcPts val="1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Aset Tersedia di Direktori Proyek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Presentasi PowerPoint (.pptx):</a:t>
            </a:r>
            <a:br/>
            <a:r>
              <a:t>Database_Presentation_Fasaro_Invity.pptx</a:t>
            </a:r>
            <a:br/>
            <a:r>
              <a:t>(Slide profesional 16:9 siap dipresentasikan)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Diagram ERD Resolusi Tinggi (.png):</a:t>
            </a:r>
            <a:br/>
            <a:r>
              <a:t>ERD_Diagram_Fasaro_Invity.png</a:t>
            </a:r>
            <a:br/>
            <a:r>
              <a:t>(Visualisasi arsitektur 3400x2350 px jernih)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Slide Web Interaktif (.html):</a:t>
            </a:r>
            <a:br/>
            <a:r>
              <a:t>Database_Presentation_Fasaro_Invity.html</a:t>
            </a:r>
            <a:br/>
            <a:r>
              <a:t>(Buka langsung di browser apa pun tanpa software Office)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914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Panduan Unduh &amp; Presentasi</a:t>
            </a:r>
          </a:p>
          <a:p>
            <a:pPr>
              <a:spcAft>
                <a:spcPts val="1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Cara Mengakses File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Membuka PPTX: Klik kanan file Database_Presentation_Fasaro_Invity.pptx di file explorer lalu buka via Microsoft PowerPoint atau Google Slides.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Melihat Diagram ERD: Buka file ERD_Diagram_Fasaro_Invity.png untuk zoom in tanpa pecah.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Print to PDF: Buka file HTML di Google Chrome / Edge, lalu tekan Ctrl + P untuk simpan sebagai dokumen PDF presentasi lengkap.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914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